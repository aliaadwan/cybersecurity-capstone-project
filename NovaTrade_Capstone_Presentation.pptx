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introducing yourself, your certification, and that this is an independent, individually-led capstone covering the full security lifecycle: assessment, incident response, and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parts of the talk: scenario, findings, incident response, and governance. Keep this brief — 10-15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scene: mid-sized e-commerce company, hybrid environment with internet-facing and internal assets. This is the environment all three vulnerabilities and the incident took place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three findings and their CVSS scores. Be ready to explain why VPN-No-MFA and the RCE both scored a perfect 10 — both are Network vector, Low complexity, no privileges or user interaction required, and full CIA impact with Scope:Changed.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IOCs in order. Emphasize the off-hours timing as the strongest signal, and connect this incident directly to Finding #1 (VPN – No MFA) from the VA/PT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Containment stops the bleeding; recovery removes the root cause. Emphasize evidence preservation as a forensics principle, and that MFA enforcement is the single highest-priority recovery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findings to ownership and accountability. Highlight that the MFA policy was written directly in response to this incident, not as a generic best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tying the three findings back to one root cause (no MFA), reinforce defense-in-depth, and confirm that governance artifacts ensure follow-through.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1B3A4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B3A4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5" name="Image 0" descr="/home/claude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1283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03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NovaTrade Solutions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Capstone Project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Assessment, Incident Response &amp; Risk Management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846320"/>
            <a:ext cx="21945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074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Alia Ahmad Aladwan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Circle — Cyber Security Associate Certification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71907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pic>
        <p:nvPicPr>
          <p:cNvPr id="5" name="Image 0" descr="/home/claude/icons/clipboard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8562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0" y="16733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Overview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28600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NovaTrade Solutions — environment &amp; scope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295351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pic>
        <p:nvPicPr>
          <p:cNvPr id="10" name="Image 1" descr="/home/claude/icons/bug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09067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86000" y="29077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Findings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22860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risks identified &amp; CVSS-scored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023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77240" y="418795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pic>
        <p:nvPicPr>
          <p:cNvPr id="15" name="Image 2" descr="/home/claude/icons/search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32511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286000" y="41422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22860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Timeline, triage, containment, recovery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77240" y="542239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pic>
        <p:nvPicPr>
          <p:cNvPr id="20" name="Image 3" descr="/home/claude/icons/usershield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555955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286000" y="5376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 &amp; Policy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228600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Ownership, treatment plan, MFA policy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Overview — NovaTrade Solutions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1B3A4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Mid-sized e-commerce company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employees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portal &amp; customer-facing APIs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365 for email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remote employees via VPN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File Server &amp; Customer DB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94360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Touchpoints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35040" y="205740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Portal &amp; APIs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4780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Internet-Facing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306324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Gateway (40 remote users)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34838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Internet-Facing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406908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4160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Server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44897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Network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507492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5166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54955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Network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Findings — CVSS-Based Analysis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194560"/>
                <a:gridCol w="1737360"/>
                <a:gridCol w="15544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CVSS Score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VPN — No MFA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/ Low Complexity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VPN Gateway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Outdated Library — RCE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/ Low Complexity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Application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 Admin Credential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Adjacent / Low Complexity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 Server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206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vulnerabilities were independently scored using CVSS v3.1 base metrics (Attack Vector, Complexity, Privileges Required, User Interaction, Scope, and CIA Impact).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50749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1B3A4B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51937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8640" y="5806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Findings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43400" y="50749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1B3A4B"/>
          </a:solidFill>
          <a:ln/>
        </p:spPr>
      </p:sp>
      <p:sp>
        <p:nvSpPr>
          <p:cNvPr id="9" name="Text 6"/>
          <p:cNvSpPr/>
          <p:nvPr/>
        </p:nvSpPr>
        <p:spPr>
          <a:xfrm>
            <a:off x="4343400" y="51937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4343400" y="5806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Finding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38160" y="50749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1B3A4B"/>
          </a:solidFill>
          <a:ln/>
        </p:spPr>
      </p:sp>
      <p:sp>
        <p:nvSpPr>
          <p:cNvPr id="12" name="Text 9"/>
          <p:cNvSpPr/>
          <p:nvPr/>
        </p:nvSpPr>
        <p:spPr>
          <a:xfrm>
            <a:off x="8138160" y="51937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8138160" y="5806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CVSS Score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Timeline — INC-2025-001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171700" y="1691640"/>
            <a:ext cx="822960" cy="82296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4" name="Image 0" descr="/home/claude/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5670" y="190561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6974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~02:00 AM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31089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51560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Failed VPN Logins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51560" y="38404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failed attempts from an unknown external IP — credential stuffing pattern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2004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0" name="Shape 7"/>
          <p:cNvSpPr/>
          <p:nvPr/>
        </p:nvSpPr>
        <p:spPr>
          <a:xfrm>
            <a:off x="6103620" y="1691640"/>
            <a:ext cx="822960" cy="8229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/home/claude/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590" y="190561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26974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~02:30 AM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54880" y="31089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983480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VPN Login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983480" y="38404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authenticated successfully — no MFA in place to block access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321040" y="1965960"/>
            <a:ext cx="32004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7" name="Shape 13"/>
          <p:cNvSpPr/>
          <p:nvPr/>
        </p:nvSpPr>
        <p:spPr>
          <a:xfrm>
            <a:off x="10035540" y="1691640"/>
            <a:ext cx="822960" cy="8229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8" name="Image 2" descr="/home/claude/icons/bu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510" y="190561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86800" y="26974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~03:00 AM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686800" y="31089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915400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Abnormal File Access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915400" y="38404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Server activity during off-hours — no legitimate user active at this time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22960" y="534924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1B3A4B"/>
          </a:solidFill>
          <a:ln/>
        </p:spPr>
      </p:sp>
      <p:sp>
        <p:nvSpPr>
          <p:cNvPr id="24" name="Text 19"/>
          <p:cNvSpPr/>
          <p:nvPr/>
        </p:nvSpPr>
        <p:spPr>
          <a:xfrm>
            <a:off x="1097280" y="5532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Conclusion: 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3200400" y="5532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indicates a deliberate, structured attack (reconnaissance → credential compromise → lateral movement) — classified HIGH severity, P1 priority.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 &amp; Recovery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/home/claude/icons/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257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74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Terminate active VPN session immediately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attacker’s source IP at the firewall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 (not delete) compromised user account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all logs — no modification, full chain of custody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File Server pending investigation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200" y="150876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1B3A4B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icons/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166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1874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92240" y="251460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MFA on VPN before restoring access (root cause)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all credentials linked to the incident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backdoors / persistence mechanisms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outdated web library (Finding #2)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72 hrs post-recovery before full restoration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 &amp; MFA Policy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 Summary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943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468880"/>
                <a:gridCol w="1280160"/>
                <a:gridCol w="1005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VPN lacks MFA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Infra Mgr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0–7d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Outdated library — 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DevOps Lead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8–30d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 admin credential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Infra Mgr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0–7d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4F7F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Risks Are Connected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475488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 was the confirmed entry point in Incident INC-2025-001. R-03 was reachable only because R-01 allowed internal network access. R-02 is an independent, parallel attack surface on the same internet-facing layer.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0" y="141732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1B3A4B"/>
          </a:solidFill>
          <a:ln/>
        </p:spPr>
      </p:sp>
      <p:sp>
        <p:nvSpPr>
          <p:cNvPr id="9" name="Shape 6"/>
          <p:cNvSpPr/>
          <p:nvPr/>
        </p:nvSpPr>
        <p:spPr>
          <a:xfrm>
            <a:off x="6675120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/home/claude/icons/key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5879" y="182239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Policy — Key Points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720840" y="2331720"/>
            <a:ext cx="46177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MFA for all VPN connections — no exceptions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for all admin accounts (File Server, Customer DB)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Authenticator apps or hardware keys preferred over SMS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access granted without prior MFA enrollment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Exceptions require written approval + compensating control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annually or after any authentication incident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B3A4B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5" name="Image 0" descr="/home/claude/icons/lock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19376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83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91640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missing control (MFA) enabled the entire incident chain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834640"/>
            <a:ext cx="594360" cy="59436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9" name="Image 1" descr="/home/claude/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94" y="298917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834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9164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independent findings show layered weaknesses across network, app, and access layers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3886200"/>
            <a:ext cx="594360" cy="59436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13" name="Image 2" descr="/home/claude/icons/user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404073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3886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Closes the Loop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91640" y="4251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 + MFA Policy ensure findings translate into owned, tracked action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5212080"/>
            <a:ext cx="10424160" cy="0"/>
          </a:xfrm>
          <a:prstGeom prst="line">
            <a:avLst/>
          </a:prstGeom>
          <a:noFill/>
          <a:ln w="12700">
            <a:solidFill>
              <a:srgbClr val="1B3A4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22960" y="5440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 Welcome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 Ahmad Aladwan  |  Cybersecurity Capstone Project  |  github.com/aliaadwan/cybersecurity-capstone-project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NovaTrade Solutions — Cybersecurity Capstone Project</dc:title>
  <dc:subject>PptxGenJS Presentation</dc:subject>
  <dc:creator>Alia Ahmad Aladwan</dc:creator>
  <cp:lastModifiedBy>Alia Ahmad Aladwan</cp:lastModifiedBy>
  <cp:revision>1</cp:revision>
  <dcterms:created xsi:type="dcterms:W3CDTF">2026-06-20T10:57:06Z</dcterms:created>
  <dcterms:modified xsi:type="dcterms:W3CDTF">2026-06-20T10:57:06Z</dcterms:modified>
</cp:coreProperties>
</file>